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0c8f1461664778" /><Relationship Type="http://schemas.openxmlformats.org/officeDocument/2006/relationships/extended-properties" Target="/docProps/app.xml" Id="Ra68af5b57c504d5c" /><Relationship Type="http://schemas.openxmlformats.org/officeDocument/2006/relationships/officeDocument" Target="/ppt/presentation.xml" Id="R5afe4782279747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34109c6a5f4231"/>
  </p:sldMasterIdLst>
  <p:notesMasterIdLst>
    <p:notesMasterId xmlns:r="http://schemas.openxmlformats.org/officeDocument/2006/relationships" r:id="Reae946eb4ac9439c"/>
  </p:notesMasterIdLst>
  <p:sldIdLst>
    <p:sldId xmlns:r="http://schemas.openxmlformats.org/officeDocument/2006/relationships" id="256" r:id="R28694e55c2ec4b08"/>
    <p:sldId xmlns:r="http://schemas.openxmlformats.org/officeDocument/2006/relationships" id="257" r:id="R37ebd3e1276b4992"/>
    <p:sldId xmlns:r="http://schemas.openxmlformats.org/officeDocument/2006/relationships" id="258" r:id="Re177d428596a4f26"/>
    <p:sldId xmlns:r="http://schemas.openxmlformats.org/officeDocument/2006/relationships" id="259" r:id="R5d0c1dc245214258"/>
    <p:sldId xmlns:r="http://schemas.openxmlformats.org/officeDocument/2006/relationships" id="260" r:id="R63545ec2853046fa"/>
    <p:sldId xmlns:r="http://schemas.openxmlformats.org/officeDocument/2006/relationships" id="261" r:id="R8a533325baa94e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d2c599f79549b3" /><Relationship Type="http://schemas.openxmlformats.org/officeDocument/2006/relationships/slideMaster" Target="/ppt/slideMasters/slideMaster1.xml" Id="Rd934109c6a5f4231" /><Relationship Type="http://schemas.openxmlformats.org/officeDocument/2006/relationships/notesMaster" Target="/ppt/notesMasters/notesMaster1.xml" Id="Reae946eb4ac9439c" /><Relationship Type="http://schemas.openxmlformats.org/officeDocument/2006/relationships/presProps" Target="/ppt/presProps.xml" Id="Rc3087370d5f1482d" /><Relationship Type="http://schemas.openxmlformats.org/officeDocument/2006/relationships/tableStyles" Target="/ppt/tableStyles.xml" Id="R698afec1c4344f39" /><Relationship Type="http://schemas.openxmlformats.org/officeDocument/2006/relationships/slide" Target="/ppt/slides/slide1.xml" Id="R28694e55c2ec4b08" /><Relationship Type="http://schemas.openxmlformats.org/officeDocument/2006/relationships/slide" Target="/ppt/slides/slide2.xml" Id="R37ebd3e1276b4992" /><Relationship Type="http://schemas.openxmlformats.org/officeDocument/2006/relationships/slide" Target="/ppt/slides/slide3.xml" Id="Re177d428596a4f26" /><Relationship Type="http://schemas.openxmlformats.org/officeDocument/2006/relationships/slide" Target="/ppt/slides/slide4.xml" Id="R5d0c1dc245214258" /><Relationship Type="http://schemas.openxmlformats.org/officeDocument/2006/relationships/slide" Target="/ppt/slides/slide5.xml" Id="R63545ec2853046fa" /><Relationship Type="http://schemas.openxmlformats.org/officeDocument/2006/relationships/slide" Target="/ppt/slides/slide6.xml" Id="R8a533325baa94e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d6c20807284c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Green Room">
      <a:dk1>
        <a:srgbClr val="24352E"/>
      </a:dk1>
      <a:lt1>
        <a:srgbClr val="FBF7EC"/>
      </a:lt1>
      <a:dk2>
        <a:srgbClr val="2B4A40"/>
      </a:dk2>
      <a:lt2>
        <a:srgbClr val="FFFDF8"/>
      </a:lt2>
      <a:accent1>
        <a:srgbClr val="2B4A40"/>
      </a:accent1>
      <a:accent2>
        <a:srgbClr val="9FBB94"/>
      </a:accent2>
      <a:accent3>
        <a:srgbClr val="E7C48F"/>
      </a:accent3>
      <a:accent4>
        <a:srgbClr val="F1EAD9"/>
      </a:accent4>
      <a:accent5>
        <a:srgbClr val="5F7268"/>
      </a:accent5>
      <a:accent6>
        <a:srgbClr val="C0453A"/>
      </a:accent6>
      <a:hlink>
        <a:srgbClr val="2B4A40"/>
      </a:hlink>
      <a:folHlink>
        <a:srgbClr val="5F726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Green Room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a0a125541c47a9" /><Relationship Type="http://schemas.openxmlformats.org/officeDocument/2006/relationships/notesMaster" Target="/ppt/notesMasters/notesMaster1.xml" Id="R048cc0f0310c48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1bab3b761e4fc4" /><Relationship Type="http://schemas.openxmlformats.org/officeDocument/2006/relationships/notesMaster" Target="/ppt/notesMasters/notesMaster1.xml" Id="R02687e65e95f49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d48584d5b94728" /><Relationship Type="http://schemas.openxmlformats.org/officeDocument/2006/relationships/notesMaster" Target="/ppt/notesMasters/notesMaster1.xml" Id="R09ea053aec3145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b3de892d774800" /><Relationship Type="http://schemas.openxmlformats.org/officeDocument/2006/relationships/notesMaster" Target="/ppt/notesMasters/notesMaster1.xml" Id="R863210ca943b4f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1a459c53d74b96" /><Relationship Type="http://schemas.openxmlformats.org/officeDocument/2006/relationships/notesMaster" Target="/ppt/notesMasters/notesMaster1.xml" Id="R88d4003653f44d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685778f1bd489b" /><Relationship Type="http://schemas.openxmlformats.org/officeDocument/2006/relationships/notesMaster" Target="/ppt/notesMasters/notesMaster1.xml" Id="Rab1b98512c6f42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product name and one-line promise. Keep it human: this is not a generic AI tool; it is a practice room for stressful speaking moments.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Product context from local Green Room app files in /Users/laithmunir/Projects/green-room.</a:t>
            </a:r>
          </a:p>
          <a:p xmlns:a="http://schemas.openxmlformats.org/drawingml/2006/main">
            <a:r>
              <a:t>HI Bootcamp - Day 3.pdf, page 9: recommends 15 seconds for who you are, product name, and one-line purpose.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specific person and moment. Do not say 'students have communication problems.' Say: one student has to speak under pressure and currently gets no realistic reps.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HI Bootcamp - Day 3.pdf, pages 4-6: winning pitches name a real person, a real moment, and a specific broken alternative.</a:t>
            </a:r>
          </a:p>
          <a:p xmlns:a="http://schemas.openxmlformats.org/drawingml/2006/main">
            <a:r>
              <a:t>IEC Pitch Deck Template (1).pdf, page 5: problem slide should be emotionally clear and minimal.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proof-it-is-real slide. Say the caveat out loud so the jury trusts the number: early evidence, small sample, but directly relevant to AI speech coaching.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ai_stage_fright_research.pdf, pages 1-2: Garcia et al. 2024 ICCE Proceedings, n=20, reported 25.2% average anxiety reduction and 60.5% speech competency gain after one week using Yoodli.</a:t>
            </a:r>
          </a:p>
          <a:p xmlns:a="http://schemas.openxmlformats.org/drawingml/2006/main">
            <a:r>
              <a:t>HI Bootcamp - Day 3.pdf, page 6: no source named, no number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in plain words. Avoid naming models or frameworks unless asked. The jury scores what was built and why this approach beats the obvious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HI Bootcamp - Day 3.pdf, page 2: jury scores problem, solution, demo, impact, and team.</a:t>
            </a:r>
          </a:p>
          <a:p xmlns:a="http://schemas.openxmlformats.org/drawingml/2006/main">
            <a:r>
              <a:t>HI Bootcamp - Day 3.pdf, page 10: avoid the tech list; explain what it does for the person.</a:t>
            </a:r>
          </a:p>
          <a:p xmlns:a="http://schemas.openxmlformats.org/drawingml/2006/main">
            <a:r>
              <a:t>IEC Pitch Deck Template (1).pdf, pages 6-8: solution and product/demo slides should state the approach and technical advantage without drowning in details.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tour the app. Start from cold if possible, then show one speaking loop end to end. If the model is slow, use the polite fallback and keep talking.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HI Bootcamp - Day 3.pdf, pages 3 and 7-10: demo must run live, one complete flow beats many half-finished features, avoid the tour, have fallback behavior.</a:t>
            </a:r>
          </a:p>
          <a:p xmlns:a="http://schemas.openxmlformats.org/drawingml/2006/main">
            <a:r>
              <a:t>IEC Pitch Deck Template (1).pdf, page 7: a product demo is more powerful than slides or script.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resolving the opening: the product gives students realistic practice before the moment counts. If asked about team, each member should explain a part of the build and demo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HI Bootcamp - Day 3.pdf, pages 2, 5, 9, and 13: impact asks what changes if a thousand people use it; everyone should contribute and explain the build; close on who it is for and why.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ea9c2ffb9440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3af3469d554484" /><Relationship Type="http://schemas.openxmlformats.org/officeDocument/2006/relationships/slideLayout" Target="/ppt/slideLayouts/slideLayout1.xml" Id="R95a46040377b4c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a46040377b4c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Green Room">
      <a:dk1>
        <a:srgbClr val="24352E"/>
      </a:dk1>
      <a:lt1>
        <a:srgbClr val="FBF7EC"/>
      </a:lt1>
      <a:dk2>
        <a:srgbClr val="2B4A40"/>
      </a:dk2>
      <a:lt2>
        <a:srgbClr val="FFFDF8"/>
      </a:lt2>
      <a:accent1>
        <a:srgbClr val="2B4A40"/>
      </a:accent1>
      <a:accent2>
        <a:srgbClr val="9FBB94"/>
      </a:accent2>
      <a:accent3>
        <a:srgbClr val="E7C48F"/>
      </a:accent3>
      <a:accent4>
        <a:srgbClr val="F1EAD9"/>
      </a:accent4>
      <a:accent5>
        <a:srgbClr val="5F7268"/>
      </a:accent5>
      <a:accent6>
        <a:srgbClr val="C0453A"/>
      </a:accent6>
      <a:hlink>
        <a:srgbClr val="2B4A40"/>
      </a:hlink>
      <a:folHlink>
        <a:srgbClr val="5F726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Green Room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841c47358f4d92" /><Relationship Type="http://schemas.openxmlformats.org/officeDocument/2006/relationships/image" Target="/ppt/media/image.png" Id="Rb9bc45951db7408a" /><Relationship Type="http://schemas.openxmlformats.org/officeDocument/2006/relationships/notesSlide" Target="/ppt/notesSlides/notesSlide1.xml" Id="R7f1570098b4f49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5152f394de42dc" /><Relationship Type="http://schemas.openxmlformats.org/officeDocument/2006/relationships/notesSlide" Target="/ppt/notesSlides/notesSlide2.xml" Id="R120b40448c1e4b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a3f8273a674fb2" /><Relationship Type="http://schemas.openxmlformats.org/officeDocument/2006/relationships/notesSlide" Target="/ppt/notesSlides/notesSlide3.xml" Id="R5d4df62493f241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0d415e89a4458" /><Relationship Type="http://schemas.openxmlformats.org/officeDocument/2006/relationships/notesSlide" Target="/ppt/notesSlides/notesSlide4.xml" Id="R8c9d1d30b18b49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1136475a6641b2" /><Relationship Type="http://schemas.openxmlformats.org/officeDocument/2006/relationships/notesSlide" Target="/ppt/notesSlides/notesSlide5.xml" Id="Rcb48a20e297242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20d1f1edeb4818" /><Relationship Type="http://schemas.openxmlformats.org/officeDocument/2006/relationships/notesSlide" Target="/ppt/notesSlides/notesSlide6.xml" Id="Rc7101016c80e49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bc45951db7408a"/>
          <a:stretch xmlns:a="http://schemas.openxmlformats.org/drawingml/2006/main"/>
        </p:blipFill>
        <p:spPr>
          <a:xfrm xmlns:a="http://schemas.openxmlformats.org/drawingml/2006/main">
            <a:off x="782360" y="723900"/>
            <a:ext cx="873680" cy="876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71CFA8-D4C2-4FF7-A5EE-735449D5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666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950" b="1" i="0">
                <a:solidFill>
                  <a:srgbClr val="2B4A40"/>
                </a:solidFill>
              </a:defRPr>
            </a:pPr>
            <a:r>
              <a:rPr sz="4950" b="1" i="0">
                <a:solidFill>
                  <a:srgbClr val="2B4A40"/>
                </a:solidFill>
              </a:rPr>
              <a:t>Green Room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37B75E-0BD4-4277-9194-19779ADE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24352E"/>
                </a:solidFill>
              </a:defRPr>
            </a:pPr>
            <a:r>
              <a:rPr sz="2250" b="0" i="0">
                <a:solidFill>
                  <a:srgbClr val="24352E"/>
                </a:solidFill>
              </a:rPr>
              <a:t>Practice the room before you face 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F2C5EA-65B8-4B37-ADAF-294A1D66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71900"/>
            <a:ext cx="2286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C4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F3B90F-589C-49AB-997D-ACABD90E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666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F7268"/>
                </a:solidFill>
              </a:defRPr>
            </a:pPr>
            <a:r>
              <a:rPr sz="1800" b="0" i="0">
                <a:solidFill>
                  <a:srgbClr val="5F7268"/>
                </a:solidFill>
              </a:rPr>
              <a:t>AI role-play for viva, pitch, interview, and public-speaking practice.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820BB8-B68E-4821-8408-CF355BD8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952500"/>
            <a:ext cx="2286000" cy="4000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8C9A9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6DED0A-532A-4595-942F-19A795AF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240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2B4A40"/>
                </a:solidFill>
              </a:defRPr>
            </a:pPr>
            <a:r>
              <a:rPr sz="2100" b="1" i="0">
                <a:solidFill>
                  <a:srgbClr val="2B4A40"/>
                </a:solidFill>
              </a:rPr>
              <a:t>speak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6CCA5A-270F-4787-9F38-14CA5C3F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813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2B4A40"/>
                </a:solidFill>
              </a:defRPr>
            </a:pPr>
            <a:r>
              <a:rPr sz="2100" b="1" i="0">
                <a:solidFill>
                  <a:srgbClr val="2B4A40"/>
                </a:solidFill>
              </a:rPr>
              <a:t>respond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0950C1-4123-4E6D-8206-05F5BB3C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386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2B4A40"/>
                </a:solidFill>
              </a:defRPr>
            </a:pPr>
            <a:r>
              <a:rPr sz="2100" b="1" i="0">
                <a:solidFill>
                  <a:srgbClr val="2B4A40"/>
                </a:solidFill>
              </a:rPr>
              <a:t>improve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3FFA0D-6DC0-4E1A-A249-E027FF06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096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F7268"/>
                </a:solidFill>
              </a:defRPr>
            </a:pPr>
            <a:r>
              <a:rPr sz="1200" b="1" i="0">
                <a:solidFill>
                  <a:srgbClr val="5F7268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172889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FD84AC-E3B4-4DA5-BF85-C696F2E9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4850"/>
            <a:ext cx="9810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2B4A40"/>
                </a:solidFill>
              </a:defRPr>
            </a:pPr>
            <a:r>
              <a:rPr sz="3150" b="1" i="0">
                <a:solidFill>
                  <a:srgbClr val="2B4A40"/>
                </a:solidFill>
              </a:rPr>
              <a:t>Knowing the answer is not the same as saying it under pressure.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C29758-0A64-4413-8B20-78AC87E42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1695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C4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1AEC78-82A6-4BA2-81C9-E7C4ACCA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3840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E7C48F"/>
                </a:solidFill>
              </a:defRPr>
            </a:pPr>
            <a:r>
              <a:rPr sz="1875" b="1" i="0">
                <a:solidFill>
                  <a:srgbClr val="E7C48F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14EF81-183F-46A3-8597-FA505EED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812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24352E"/>
                </a:solidFill>
              </a:defRPr>
            </a:pPr>
            <a:r>
              <a:rPr sz="2025" b="1" i="0">
                <a:solidFill>
                  <a:srgbClr val="24352E"/>
                </a:solidFill>
              </a:rPr>
              <a:t>The moment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C71681-C94C-49BD-AEDB-5F18FDF4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81250"/>
            <a:ext cx="609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F7268"/>
                </a:solidFill>
              </a:defRPr>
            </a:pPr>
            <a:r>
              <a:rPr sz="1650" b="0" i="0">
                <a:solidFill>
                  <a:srgbClr val="5F7268"/>
                </a:solidFill>
              </a:rPr>
              <a:t>A student has a viva, pitch, interview, or class presentation coming up.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D8C0FD-F764-482B-8B7F-AD4753D2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E7C48F"/>
                </a:solidFill>
              </a:defRPr>
            </a:pPr>
            <a:r>
              <a:rPr sz="1875" b="1" i="0">
                <a:solidFill>
                  <a:srgbClr val="E7C48F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152CDD-4F0C-4E25-99C2-B052CEEB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861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24352E"/>
                </a:solidFill>
              </a:defRPr>
            </a:pPr>
            <a:r>
              <a:rPr sz="2025" b="1" i="0">
                <a:solidFill>
                  <a:srgbClr val="24352E"/>
                </a:solidFill>
              </a:rPr>
              <a:t>What breaks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92AE73-AC32-4421-91FE-CD0730DF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486150"/>
            <a:ext cx="609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F7268"/>
                </a:solidFill>
              </a:defRPr>
            </a:pPr>
            <a:r>
              <a:rPr sz="1650" b="0" i="0">
                <a:solidFill>
                  <a:srgbClr val="5F7268"/>
                </a:solidFill>
              </a:rPr>
              <a:t>They rehearse alone, so they never practice interruptions, blanking, tone, or follow-up questions.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7FD7A8-1B06-4D5B-B705-8B1874C7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E7C48F"/>
                </a:solidFill>
              </a:defRPr>
            </a:pPr>
            <a:r>
              <a:rPr sz="1875" b="1" i="0">
                <a:solidFill>
                  <a:srgbClr val="E7C48F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298209-150C-41B9-9A42-638992AA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910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24352E"/>
                </a:solidFill>
              </a:defRPr>
            </a:pPr>
            <a:r>
              <a:rPr sz="2025" b="1" i="0">
                <a:solidFill>
                  <a:srgbClr val="24352E"/>
                </a:solidFill>
              </a:rPr>
              <a:t>Why it matters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04167B-E0D7-402E-8999-D8D95B6E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591050"/>
            <a:ext cx="609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F7268"/>
                </a:solidFill>
              </a:defRPr>
            </a:pPr>
            <a:r>
              <a:rPr sz="1650" b="0" i="0">
                <a:solidFill>
                  <a:srgbClr val="5F7268"/>
                </a:solidFill>
              </a:rPr>
              <a:t>The first realistic audience often appears on the day that counts.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1AD35E-DF34-4AE8-9455-03C815EC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096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F7268"/>
                </a:solidFill>
              </a:defRPr>
            </a:pPr>
            <a:r>
              <a:rPr sz="1200" b="1" i="0">
                <a:solidFill>
                  <a:srgbClr val="5F7268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206114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B4A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2137AE-9234-4B64-A301-BAAF9F67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4850"/>
            <a:ext cx="981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DF8"/>
                </a:solidFill>
              </a:defRPr>
            </a:pPr>
            <a:r>
              <a:rPr sz="3150" b="1" i="0">
                <a:solidFill>
                  <a:srgbClr val="FFFDF8"/>
                </a:solidFill>
              </a:rPr>
              <a:t>Evidence says practice with feedback can move the needle.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A063A8-3694-49A4-A7C6-9B8695DB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DCE8DD"/>
                </a:solidFill>
              </a:defRPr>
            </a:pPr>
            <a:r>
              <a:rPr sz="1800" b="0" i="0">
                <a:solidFill>
                  <a:srgbClr val="DCE8DD"/>
                </a:solidFill>
              </a:rPr>
              <a:t>In a peer-reviewed AI speech-coach study: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983786-3BCF-42F6-903C-7108616E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400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1" i="0">
                <a:solidFill>
                  <a:srgbClr val="E7C48F"/>
                </a:solidFill>
              </a:defRPr>
            </a:pPr>
            <a:r>
              <a:rPr sz="5400" b="1" i="0">
                <a:solidFill>
                  <a:srgbClr val="E7C48F"/>
                </a:solidFill>
              </a:rPr>
              <a:t>25.2%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1D058E-86F9-4E16-9268-9AB73E17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361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FFFDF8"/>
                </a:solidFill>
              </a:defRPr>
            </a:pPr>
            <a:r>
              <a:rPr sz="1950" b="0" i="0">
                <a:solidFill>
                  <a:srgbClr val="FFFDF8"/>
                </a:solidFill>
              </a:rPr>
              <a:t>average reduction in public-speaking anxiety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A52EB2-5920-4C4B-8D49-06688D0B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571750"/>
            <a:ext cx="400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1" i="0">
                <a:solidFill>
                  <a:srgbClr val="E7C48F"/>
                </a:solidFill>
              </a:defRPr>
            </a:pPr>
            <a:r>
              <a:rPr sz="5400" b="1" i="0">
                <a:solidFill>
                  <a:srgbClr val="E7C48F"/>
                </a:solidFill>
              </a:rPr>
              <a:t>60.5%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B78D0E-C1C7-4A26-B89D-54603FF9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543300"/>
            <a:ext cx="361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FFFDF8"/>
                </a:solidFill>
              </a:defRPr>
            </a:pPr>
            <a:r>
              <a:rPr sz="1950" b="0" i="0">
                <a:solidFill>
                  <a:srgbClr val="FFFDF8"/>
                </a:solidFill>
              </a:rPr>
              <a:t>increase in speech competency scores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C5A53C-FFDD-43DC-B196-6A9AC788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054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DCE8DD"/>
                </a:solidFill>
              </a:defRPr>
            </a:pPr>
            <a:r>
              <a:rPr sz="1650" b="0" i="0">
                <a:solidFill>
                  <a:srgbClr val="DCE8DD"/>
                </a:solidFill>
              </a:rPr>
              <a:t>Small study, strong signal: 20 senior-high students, one week of daily AI-coach practice.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B1E7EE-47F0-4626-9B3B-21167FEF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096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F7268"/>
                </a:solidFill>
              </a:defRPr>
            </a:pPr>
            <a:r>
              <a:rPr sz="1200" b="1" i="0">
                <a:solidFill>
                  <a:srgbClr val="5F7268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42911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6F86CE-1289-4EEB-BC8C-2C8B7A7A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48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2B4A40"/>
                </a:solidFill>
              </a:defRPr>
            </a:pPr>
            <a:r>
              <a:rPr sz="3150" b="1" i="0">
                <a:solidFill>
                  <a:srgbClr val="2B4A40"/>
                </a:solidFill>
              </a:rPr>
              <a:t>Green Room turns solo rehearsal into a realistic audience.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571908-F825-4313-85F0-D49F216B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1695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C4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B4EE56-6B90-4E4A-9427-2028E8F9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29908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1EAD9"/>
          </a:solidFill>
          <a:ln xmlns:a="http://schemas.openxmlformats.org/drawingml/2006/main" w="19050">
            <a:solidFill>
              <a:srgbClr val="8C9A9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8A7D64-AA4E-48DF-AE19-A7C4B0C0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B4A40"/>
                </a:solidFill>
              </a:defRPr>
            </a:pPr>
            <a:r>
              <a:rPr sz="2100" b="1" i="0">
                <a:solidFill>
                  <a:srgbClr val="2B4A40"/>
                </a:solidFill>
              </a:rPr>
              <a:t>Choose the room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2CFDB0-8C8F-4E3F-9F8A-A55CCD85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48050"/>
            <a:ext cx="2400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24352E"/>
                </a:solidFill>
              </a:defRPr>
            </a:pPr>
            <a:r>
              <a:rPr sz="1575" b="0" i="0">
                <a:solidFill>
                  <a:srgbClr val="24352E"/>
                </a:solidFill>
              </a:rPr>
              <a:t>Viva, pitch, interview, public speech, or casual discussion.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D73393-7D1E-447A-99D1-46C83AFE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57450"/>
            <a:ext cx="29908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8C9A9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E507D7-BBEB-4DA6-9181-6D8D0329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194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B4A40"/>
                </a:solidFill>
              </a:defRPr>
            </a:pPr>
            <a:r>
              <a:rPr sz="2100" b="1" i="0">
                <a:solidFill>
                  <a:srgbClr val="2B4A40"/>
                </a:solidFill>
              </a:rPr>
              <a:t>Speak out loud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32D918-95D9-4B23-B523-168EAFCD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48050"/>
            <a:ext cx="2400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24352E"/>
                </a:solidFill>
              </a:defRPr>
            </a:pPr>
            <a:r>
              <a:rPr sz="1575" b="0" i="0">
                <a:solidFill>
                  <a:srgbClr val="24352E"/>
                </a:solidFill>
              </a:rPr>
              <a:t>The mic captures the turn, cleans the transcript, and tracks pace.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508783-77AE-4B2C-A88A-E31B13C1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57450"/>
            <a:ext cx="29908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1EAD9"/>
          </a:solidFill>
          <a:ln xmlns:a="http://schemas.openxmlformats.org/drawingml/2006/main" w="19050">
            <a:solidFill>
              <a:srgbClr val="8C9A9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E3DCC8-350C-4A62-9D05-DEB2C1EE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194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B4A40"/>
                </a:solidFill>
              </a:defRPr>
            </a:pPr>
            <a:r>
              <a:rPr sz="2100" b="1" i="0">
                <a:solidFill>
                  <a:srgbClr val="2B4A40"/>
                </a:solidFill>
              </a:rPr>
              <a:t>Get pushed back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61E910-7464-4FCC-ACBD-79788AA2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48050"/>
            <a:ext cx="2400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24352E"/>
                </a:solidFill>
              </a:defRPr>
            </a:pPr>
            <a:r>
              <a:rPr sz="1575" b="0" i="0">
                <a:solidFill>
                  <a:srgbClr val="24352E"/>
                </a:solidFill>
              </a:rPr>
              <a:t>AI personas ask, challenge, distract, encourage, and keep the session moving.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45D336-F033-4F3F-9AAF-A2358EE9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352E"/>
                </a:solidFill>
              </a:defRPr>
            </a:pPr>
            <a:r>
              <a:rPr sz="1800" b="1" i="0">
                <a:solidFill>
                  <a:srgbClr val="24352E"/>
                </a:solidFill>
              </a:rPr>
              <a:t>The AI is not the pitch. The believable practice loop is the pitch.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DABF92-430B-431D-9936-CB04F037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096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F7268"/>
                </a:solidFill>
              </a:defRPr>
            </a:pPr>
            <a:r>
              <a:rPr sz="1200" b="1" i="0">
                <a:solidFill>
                  <a:srgbClr val="5F7268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926357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F2B619-BE4D-4CF3-A33A-25A91DF8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4850"/>
            <a:ext cx="904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2B4A40"/>
                </a:solidFill>
              </a:defRPr>
            </a:pPr>
            <a:r>
              <a:rPr sz="3450" b="1" i="0">
                <a:solidFill>
                  <a:srgbClr val="2B4A40"/>
                </a:solidFill>
              </a:rPr>
              <a:t>Demo the one moment that matters.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9057B0-F1FC-4C45-AA5E-33B08732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859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5F7268"/>
                </a:solidFill>
              </a:defRPr>
            </a:pPr>
            <a:r>
              <a:rPr sz="1875" b="0" i="0">
                <a:solidFill>
                  <a:srgbClr val="5F7268"/>
                </a:solidFill>
              </a:rPr>
              <a:t>A complete speaking rep, live.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E1467D-D6EA-4B19-BC43-C62AD09B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 i="0">
                <a:solidFill>
                  <a:srgbClr val="E7C48F"/>
                </a:solidFill>
              </a:defRPr>
            </a:pPr>
            <a:r>
              <a:rPr sz="2625" b="1" i="0">
                <a:solidFill>
                  <a:srgbClr val="E7C48F"/>
                </a:solidFill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42CAC9-2771-4CD0-977E-51B2CCD4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241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24352E"/>
                </a:solidFill>
              </a:defRPr>
            </a:pPr>
            <a:r>
              <a:rPr sz="2025" b="1" i="0">
                <a:solidFill>
                  <a:srgbClr val="24352E"/>
                </a:solidFill>
              </a:rPr>
              <a:t>Pick a scenario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83D458-2553-4974-8E0F-89188F61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52675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F7268"/>
                </a:solidFill>
              </a:defRPr>
            </a:pPr>
            <a:r>
              <a:rPr sz="1575" b="0" i="0">
                <a:solidFill>
                  <a:srgbClr val="5F7268"/>
                </a:solidFill>
              </a:rPr>
              <a:t>Viva, pitch, interview, or public speech.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B2BABD-7263-4106-9845-38A84909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 i="0">
                <a:solidFill>
                  <a:srgbClr val="E7C48F"/>
                </a:solidFill>
              </a:defRPr>
            </a:pPr>
            <a:r>
              <a:rPr sz="2625" b="1" i="0">
                <a:solidFill>
                  <a:srgbClr val="E7C48F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DB2E8D-7DA3-4D7A-8C01-5DB01F9C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242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24352E"/>
                </a:solidFill>
              </a:defRPr>
            </a:pPr>
            <a:r>
              <a:rPr sz="2025" b="1" i="0">
                <a:solidFill>
                  <a:srgbClr val="24352E"/>
                </a:solidFill>
              </a:rPr>
              <a:t>Answer out loud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8AAD9D-3542-4FF9-AD7E-998AB55B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52775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F7268"/>
                </a:solidFill>
              </a:defRPr>
            </a:pPr>
            <a:r>
              <a:rPr sz="1575" b="0" i="0">
                <a:solidFill>
                  <a:srgbClr val="5F7268"/>
                </a:solidFill>
              </a:rPr>
              <a:t>Speak naturally; the transcript shows what the app heard.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D4BBFB-6C83-48E7-97A8-270AAA9A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 i="0">
                <a:solidFill>
                  <a:srgbClr val="E7C48F"/>
                </a:solidFill>
              </a:defRPr>
            </a:pPr>
            <a:r>
              <a:rPr sz="2625" b="1" i="0">
                <a:solidFill>
                  <a:srgbClr val="E7C48F"/>
                </a:solidFill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ACF2B1-F5ED-4876-AC25-CDAEAE9E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243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24352E"/>
                </a:solidFill>
              </a:defRPr>
            </a:pPr>
            <a:r>
              <a:rPr sz="2025" b="1" i="0">
                <a:solidFill>
                  <a:srgbClr val="24352E"/>
                </a:solidFill>
              </a:rPr>
              <a:t>Handle the room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E51823-68EB-4BD6-ADBF-DD3A0305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52875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F7268"/>
                </a:solidFill>
              </a:defRPr>
            </a:pPr>
            <a:r>
              <a:rPr sz="1575" b="0" i="0">
                <a:solidFill>
                  <a:srgbClr val="5F7268"/>
                </a:solidFill>
              </a:rPr>
              <a:t>Respond to a follow-up, challenge, or distraction.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A0F33A-C4E0-455F-AA0A-D6DB7D28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244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 i="0">
                <a:solidFill>
                  <a:srgbClr val="E7C48F"/>
                </a:solidFill>
              </a:defRPr>
            </a:pPr>
            <a:r>
              <a:rPr sz="2625" b="1" i="0">
                <a:solidFill>
                  <a:srgbClr val="E7C48F"/>
                </a:solidFill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DD049F-5588-4641-A2EE-ED63EBD1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244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24352E"/>
                </a:solidFill>
              </a:defRPr>
            </a:pPr>
            <a:r>
              <a:rPr sz="2025" b="1" i="0">
                <a:solidFill>
                  <a:srgbClr val="24352E"/>
                </a:solidFill>
              </a:rPr>
              <a:t>End with feedback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B5A7C2-93DC-4CDB-AA93-C9161BBE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752975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F7268"/>
                </a:solidFill>
              </a:defRPr>
            </a:pPr>
            <a:r>
              <a:rPr sz="1575" b="0" i="0">
                <a:solidFill>
                  <a:srgbClr val="5F7268"/>
                </a:solidFill>
              </a:rPr>
              <a:t>See coaching notes and pace from the spoken turn.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C338C8-8815-4E95-B29C-9BBE76F7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876300"/>
            <a:ext cx="2381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BF7EC"/>
          </a:solidFill>
          <a:ln xmlns:a="http://schemas.openxmlformats.org/drawingml/2006/main" w="19050">
            <a:solidFill>
              <a:srgbClr val="8C9A9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E8A2E6-F616-4AE8-B6F1-8FAD310E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1620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B4A40"/>
                </a:solidFill>
              </a:defRPr>
            </a:pPr>
            <a:r>
              <a:rPr sz="2025" b="1" i="0">
                <a:solidFill>
                  <a:srgbClr val="2B4A40"/>
                </a:solidFill>
              </a:rPr>
              <a:t>Run it live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53CD0A-E344-43E3-B4C9-7D6B4CF6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096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F7268"/>
                </a:solidFill>
              </a:defRPr>
            </a:pPr>
            <a:r>
              <a:rPr sz="1200" b="1" i="0">
                <a:solidFill>
                  <a:srgbClr val="5F7268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884304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601E4C-DD56-4241-8B49-C4A3A65B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4850"/>
            <a:ext cx="990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2B4A40"/>
                </a:solidFill>
              </a:defRPr>
            </a:pPr>
            <a:r>
              <a:rPr sz="3150" b="1" i="0">
                <a:solidFill>
                  <a:srgbClr val="2B4A40"/>
                </a:solidFill>
              </a:rPr>
              <a:t>If 1,000 students used it, the first scary audience would not be the real one.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F2030F-9EE3-4F72-BBFB-D45C3F9B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1695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C4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DB2B0E-83FE-43B5-A553-C89BF482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24352E"/>
                </a:solidFill>
              </a:defRPr>
            </a:pPr>
            <a:r>
              <a:rPr sz="2175" b="1" i="0">
                <a:solidFill>
                  <a:srgbClr val="24352E"/>
                </a:solidFill>
              </a:rPr>
              <a:t>What changes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76C3E8-6128-41B7-A0FB-879BA260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B4A40"/>
                </a:solidFill>
              </a:defRPr>
            </a:pPr>
            <a:r>
              <a:rPr sz="1875" b="1" i="0">
                <a:solidFill>
                  <a:srgbClr val="2B4A40"/>
                </a:solidFill>
              </a:rPr>
              <a:t>More realistic reps before high-stakes speaking moments.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1EA989-BF21-461D-9016-8A64510D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4352E"/>
                </a:solidFill>
              </a:defRPr>
            </a:pPr>
            <a:r>
              <a:rPr sz="1875" b="0" i="0">
                <a:solidFill>
                  <a:srgbClr val="24352E"/>
                </a:solidFill>
              </a:rPr>
              <a:t>Earlier feedback on clarity, pace, and handling pressure.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138676-F329-4F8A-AF10-EB10E85E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958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4352E"/>
                </a:solidFill>
              </a:defRPr>
            </a:pPr>
            <a:r>
              <a:rPr sz="1875" b="0" i="0">
                <a:solidFill>
                  <a:srgbClr val="24352E"/>
                </a:solidFill>
              </a:rPr>
              <a:t>A team can show a working path, explain it, and improve it fast.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BA1840-EB08-43B4-9A4A-608F0636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007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B4A40"/>
                </a:solidFill>
              </a:defRPr>
            </a:pPr>
            <a:r>
              <a:rPr sz="2100" b="1" i="0">
                <a:solidFill>
                  <a:srgbClr val="2B4A40"/>
                </a:solidFill>
              </a:rPr>
              <a:t>Build it for someone. Then tell them why.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727ADD-0E2B-4728-BDEF-28917F73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096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F7268"/>
                </a:solidFill>
              </a:defRPr>
            </a:pPr>
            <a:r>
              <a:rPr sz="1200" b="1" i="0">
                <a:solidFill>
                  <a:srgbClr val="5F7268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12881380"/>
      </p:ext>
    </p:extLst>
  </p:cSld>
</p:sld>
</file>

<file path=ppt/theme/theme1.xml><?xml version="1.0" encoding="utf-8"?>
<a:theme xmlns:a="http://schemas.openxmlformats.org/drawingml/2006/main" name="ChatGPT">
  <a:themeElements>
    <a:clrScheme name="Green Room">
      <a:dk1>
        <a:srgbClr val="24352E"/>
      </a:dk1>
      <a:lt1>
        <a:srgbClr val="FBF7EC"/>
      </a:lt1>
      <a:dk2>
        <a:srgbClr val="2B4A40"/>
      </a:dk2>
      <a:lt2>
        <a:srgbClr val="FFFDF8"/>
      </a:lt2>
      <a:accent1>
        <a:srgbClr val="2B4A40"/>
      </a:accent1>
      <a:accent2>
        <a:srgbClr val="9FBB94"/>
      </a:accent2>
      <a:accent3>
        <a:srgbClr val="E7C48F"/>
      </a:accent3>
      <a:accent4>
        <a:srgbClr val="F1EAD9"/>
      </a:accent4>
      <a:accent5>
        <a:srgbClr val="5F7268"/>
      </a:accent5>
      <a:accent6>
        <a:srgbClr val="C0453A"/>
      </a:accent6>
      <a:hlink>
        <a:srgbClr val="2B4A40"/>
      </a:hlink>
      <a:folHlink>
        <a:srgbClr val="5F726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Green Room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2026-07-31T00:35:05.7530000Z</dcterms:created>
  <dcterms:modified xsi:type="dcterms:W3CDTF">2026-07-31T00:35:05.7530000Z</dcterms:modified>
</coreProperties>
</file>